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65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5422" y="114300"/>
            <a:ext cx="46731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2C3E5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Two Major Theoretical Frameworks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85750" y="583853"/>
            <a:ext cx="4086225" cy="381000"/>
          </a:xfrm>
          <a:prstGeom prst="roundRect">
            <a:avLst>
              <a:gd name="adj" fmla="val 125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33024" y="679103"/>
            <a:ext cx="1991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Attentional Disruption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5750" y="1212503"/>
            <a:ext cx="4086225" cy="678061"/>
          </a:xfrm>
          <a:prstGeom prst="roundRect">
            <a:avLst>
              <a:gd name="adj" fmla="val 11238"/>
            </a:avLst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0905" y="1345853"/>
            <a:ext cx="3895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Working Memory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0905" y="1583978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Maintenance Process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4888" y="2157264"/>
            <a:ext cx="416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800" dirty="0">
                <a:solidFill>
                  <a:srgbClr val="E67E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↓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4888" y="2423964"/>
            <a:ext cx="4167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00" b="1" dirty="0">
                <a:solidFill>
                  <a:srgbClr val="E67E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Attention Captured!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5750" y="2858244"/>
            <a:ext cx="4086225" cy="744736"/>
          </a:xfrm>
          <a:prstGeom prst="roundRect">
            <a:avLst>
              <a:gd name="adj" fmla="val 10232"/>
            </a:avLst>
          </a:prstGeom>
          <a:solidFill>
            <a:srgbClr val="E74C3C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0905" y="2991594"/>
            <a:ext cx="3895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Irrelevant Sounds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0905" y="3229719"/>
            <a:ext cx="38959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♪ ♫ ♪ ♫ ♪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5750" y="3850630"/>
            <a:ext cx="4086225" cy="563761"/>
          </a:xfrm>
          <a:prstGeom prst="roundRect">
            <a:avLst>
              <a:gd name="adj" fmla="val 8448"/>
            </a:avLst>
          </a:prstGeom>
          <a:solidFill>
            <a:srgbClr val="FFFFFF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2043" y="3945880"/>
            <a:ext cx="3973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Sounds capture attention away from maintenance, interrupting WM processes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44888" y="4642991"/>
            <a:ext cx="4167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Cowan, 1995; Röer, Bell, &amp; Buchner, 2014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72025" y="381000"/>
            <a:ext cx="4086225" cy="381000"/>
          </a:xfrm>
          <a:prstGeom prst="roundRect">
            <a:avLst>
              <a:gd name="adj" fmla="val 125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19299" y="476250"/>
            <a:ext cx="19916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Order Interference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72025" y="1009650"/>
            <a:ext cx="4086225" cy="887611"/>
          </a:xfrm>
          <a:prstGeom prst="roundRect">
            <a:avLst>
              <a:gd name="adj" fmla="val 8585"/>
            </a:avLst>
          </a:prstGeom>
          <a:solidFill>
            <a:srgbClr val="ECF0F1"/>
          </a:solidFill>
          <a:ln w="19050">
            <a:solidFill>
              <a:srgbClr val="2C3E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67180" y="1143000"/>
            <a:ext cx="3895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Aft>
                <a:spcPts val="225"/>
              </a:spcAft>
              <a:buNone/>
            </a:pPr>
            <a:r>
              <a:rPr lang="en-US" sz="1400" b="1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Working Memory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67180" y="1371600"/>
            <a:ext cx="38959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15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Serial Order: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5106" y="1573411"/>
            <a:ext cx="24869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400" b="1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 → B  →  C →       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72025" y="2144911"/>
            <a:ext cx="4086225" cy="607665"/>
          </a:xfrm>
          <a:prstGeom prst="roundRect">
            <a:avLst>
              <a:gd name="adj" fmla="val 12540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7749" y="2259211"/>
            <a:ext cx="39347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spcAft>
                <a:spcPts val="150"/>
              </a:spcAft>
              <a:buNone/>
            </a:pPr>
            <a:r>
              <a:rPr lang="en-US" sz="1400" b="1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Auditory 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7749" y="2478286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(Automatic encoding)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25889" y="3000226"/>
            <a:ext cx="389632" cy="403771"/>
          </a:xfrm>
          <a:prstGeom prst="roundRect">
            <a:avLst>
              <a:gd name="adj" fmla="val 12223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78289" y="3095476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91721" y="3095476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20321" y="3000226"/>
            <a:ext cx="389632" cy="403771"/>
          </a:xfrm>
          <a:prstGeom prst="roundRect">
            <a:avLst>
              <a:gd name="adj" fmla="val 12223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72721" y="3095476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86154" y="3095476"/>
            <a:ext cx="1554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4754" y="3000226"/>
            <a:ext cx="389632" cy="403771"/>
          </a:xfrm>
          <a:prstGeom prst="roundRect">
            <a:avLst>
              <a:gd name="adj" fmla="val 12223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67154" y="3095476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31163" y="3632597"/>
            <a:ext cx="4167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Changing Sound Order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772025" y="4053483"/>
            <a:ext cx="4086225" cy="563761"/>
          </a:xfrm>
          <a:prstGeom prst="roundRect">
            <a:avLst>
              <a:gd name="adj" fmla="val 8448"/>
            </a:avLst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28318" y="4148733"/>
            <a:ext cx="397364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Auditory system automatically encodes changing order of sounds, creating conflict with serial order maintenance in WM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31163" y="4845844"/>
            <a:ext cx="4167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365"/>
              </a:lnSpc>
            </a:pPr>
            <a:r>
              <a:rPr lang="en-US" sz="105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Jones et al., 1992; Beaman &amp; Jones, 1997; Hughes et al., 2005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C832F11-73A1-00EA-56B2-3C22A2D5F177}"/>
              </a:ext>
            </a:extLst>
          </p:cNvPr>
          <p:cNvCxnSpPr>
            <a:cxnSpLocks/>
          </p:cNvCxnSpPr>
          <p:nvPr/>
        </p:nvCxnSpPr>
        <p:spPr>
          <a:xfrm flipH="1" flipV="1">
            <a:off x="7558403" y="1711434"/>
            <a:ext cx="0" cy="128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5422" y="142875"/>
            <a:ext cx="4673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Duplex-Mechanism Accounts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76250" y="485775"/>
            <a:ext cx="8355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Duplex accounts propose that irrelevant sounds disrupt working memory through two separable mechanisms: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4520184" y="1116807"/>
            <a:ext cx="3821430" cy="411956"/>
          </a:xfrm>
          <a:prstGeom prst="roundRect">
            <a:avLst>
              <a:gd name="adj" fmla="val 18182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>
              <a:lnSpc>
                <a:spcPts val="1500"/>
              </a:lnSpc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Attentional Capture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1109663"/>
            <a:ext cx="18945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Attentional Capture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36364" y="1643063"/>
            <a:ext cx="4000500" cy="110966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0" y="1802164"/>
            <a:ext cx="269670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occurs when the sound stream contains a deviant, salient, or unexpected event that momentarily draws attention away from the task.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5172" y="1109663"/>
            <a:ext cx="4000500" cy="419100"/>
          </a:xfrm>
          <a:prstGeom prst="roundRect">
            <a:avLst>
              <a:gd name="adj" fmla="val 18182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7572" y="1223963"/>
            <a:ext cx="23122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Order-Based Interference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2034" y="1643063"/>
            <a:ext cx="40005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4434" y="1795463"/>
            <a:ext cx="3769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primary mechanism in classic ISE contexts.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4434" y="2071688"/>
            <a:ext cx="376961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Changing-state sequences automatically engage seriation processes that conflict with the ordered maintenance of TBR items.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4434" y="3067050"/>
            <a:ext cx="8191500" cy="1019175"/>
          </a:xfrm>
          <a:prstGeom prst="roundRect">
            <a:avLst>
              <a:gd name="adj" fmla="val 7477"/>
            </a:avLst>
          </a:prstGeom>
          <a:solidFill>
            <a:srgbClr val="FFF3CD"/>
          </a:solidFill>
          <a:ln w="28575">
            <a:solidFill>
              <a:srgbClr val="FFC10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5409" y="3248025"/>
            <a:ext cx="79861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assumption: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05409" y="3505200"/>
            <a:ext cx="798614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Although both pathways exist, the typical irrelevant sound effect—especially under continuous changing-state sequences—is attributed mainly to order-based interference, with attention-driven disruption playing a more limited role.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8066" y="4329112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Hughes, 2014; Hughes et al., 2013; Hughes, Vachon, &amp; Jones, 2005; Hughes &amp; Marsh, 2020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243</Words>
  <Application>Microsoft Macintosh PowerPoint</Application>
  <PresentationFormat>On-screen Show (16:9)</PresentationFormat>
  <Paragraphs>37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 Zweben</cp:lastModifiedBy>
  <cp:revision>4</cp:revision>
  <dcterms:created xsi:type="dcterms:W3CDTF">2025-11-16T09:40:55Z</dcterms:created>
  <dcterms:modified xsi:type="dcterms:W3CDTF">2025-11-16T14:02:50Z</dcterms:modified>
</cp:coreProperties>
</file>